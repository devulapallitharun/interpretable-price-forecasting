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24"/>
    <p:sldId id="275" r:id="rId25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8"/>
    <p:sldId id="271" r:id="rId17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9.xml"/><Relationship Id="rId18" Type="http://schemas.openxmlformats.org/officeDocument/2006/relationships/slide" Target="slides/slide18.xml"/><Relationship Id="rId19" Type="http://schemas.openxmlformats.org/officeDocument/2006/relationships/slide" Target="slides/slide20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2.xml"/><Relationship Id="rId2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B4BDCA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B4BDCA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7548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00" b="1">
                <a:solidFill>
                  <a:srgbClr val="F19D38"/>
                </a:solidFill>
                <a:latin typeface="Aptos"/>
              </a:rPr>
              <a:t>NIT Karnataka, Surathkal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80467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INTERPRETABLE AND UNCERTAINTY-AWARE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80467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FOOD PRICE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92224"/>
            <a:ext cx="813816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600" b="0">
                <a:solidFill>
                  <a:srgbClr val="D2DCEB"/>
                </a:solidFill>
                <a:latin typeface="Aptos"/>
              </a:rPr>
              <a:t>for Indian Markets using Temporal Fusion Transformers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68880"/>
            <a:ext cx="173736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1">
                <a:solidFill>
                  <a:srgbClr val="AAB8CB"/>
                </a:solidFill>
                <a:latin typeface="Aptos"/>
              </a:rPr>
              <a:t>Submitted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468880"/>
            <a:ext cx="67665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Devulapalli Tharun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34640"/>
            <a:ext cx="173736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1">
                <a:solidFill>
                  <a:srgbClr val="AAB8CB"/>
                </a:solidFill>
                <a:latin typeface="Aptos"/>
              </a:rPr>
              <a:t>Roll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34640"/>
            <a:ext cx="67665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252CS009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00400"/>
            <a:ext cx="173736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1">
                <a:solidFill>
                  <a:srgbClr val="AAB8CB"/>
                </a:solidFill>
                <a:latin typeface="Aptos"/>
              </a:rPr>
              <a:t>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200400"/>
            <a:ext cx="67665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CSE - M.Tech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66160"/>
            <a:ext cx="173736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1">
                <a:solidFill>
                  <a:srgbClr val="AAB8CB"/>
                </a:solidFill>
                <a:latin typeface="Aptos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566160"/>
            <a:ext cx="67665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National Institute of Technology Karnataka, Surathkal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31920"/>
            <a:ext cx="173736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1">
                <a:solidFill>
                  <a:srgbClr val="AAB8CB"/>
                </a:solidFill>
                <a:latin typeface="Aptos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931920"/>
            <a:ext cx="6766560" cy="1815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lang="en-IN" sz="1060" dirty="0" err="1">
                <a:solidFill>
                  <a:srgbClr val="FFFFFF"/>
                </a:solidFill>
                <a:latin typeface="Aptos"/>
              </a:rPr>
              <a:t>devulapallitharun</a:t>
            </a:r>
            <a:r>
              <a:rPr sz="1060" b="0" dirty="0">
                <a:solidFill>
                  <a:srgbClr val="FFFFFF"/>
                </a:solidFill>
                <a:latin typeface="Aptos"/>
              </a:rPr>
              <a:t>.252cs009@nitk.edu.in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297680"/>
            <a:ext cx="173736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1">
                <a:solidFill>
                  <a:srgbClr val="AAB8CB"/>
                </a:solidFill>
                <a:latin typeface="Aptos"/>
              </a:rPr>
              <a:t>Guided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297680"/>
            <a:ext cx="67665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Dr. Shashidhar G Koolagudi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63440"/>
            <a:ext cx="1737360" cy="16158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lang="en-IN" sz="930" b="1" dirty="0">
                <a:solidFill>
                  <a:srgbClr val="AAB8CB"/>
                </a:solidFill>
                <a:latin typeface="Aptos"/>
              </a:rPr>
              <a:t>Mentor</a:t>
            </a:r>
            <a:endParaRPr sz="930" b="1" dirty="0">
              <a:solidFill>
                <a:srgbClr val="AAB8C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6040" y="4663440"/>
            <a:ext cx="67665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L. Preethi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914400"/>
            <a:ext cx="2011680" cy="5074920"/>
          </a:xfrm>
          <a:prstGeom prst="roundRect">
            <a:avLst/>
          </a:prstGeom>
          <a:solidFill>
            <a:srgbClr val="262D39"/>
          </a:solidFill>
          <a:ln w="13335">
            <a:solidFill>
              <a:srgbClr val="5D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NITK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249070"/>
            <a:ext cx="1188719" cy="112288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38944" y="2724912"/>
            <a:ext cx="153619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00" b="1">
                <a:solidFill>
                  <a:srgbClr val="F19D38"/>
                </a:solidFill>
                <a:latin typeface="Aptos"/>
              </a:rPr>
              <a:t>Deck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154680"/>
            <a:ext cx="1600200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840">
                <a:solidFill>
                  <a:srgbClr val="FFFFFF"/>
                </a:solidFill>
                <a:latin typeface="Aptos"/>
              </a:defRPr>
            </a:pPr>
            <a:r>
              <a:t>- Problem and dataset</a:t>
            </a:r>
          </a:p>
          <a:p>
            <a:pPr>
              <a:spcAft>
                <a:spcPts val="300"/>
              </a:spcAft>
              <a:defRPr sz="840">
                <a:solidFill>
                  <a:srgbClr val="FFFFFF"/>
                </a:solidFill>
                <a:latin typeface="Aptos"/>
              </a:defRPr>
            </a:pPr>
            <a:r>
              <a:t>- Feature pipeline</a:t>
            </a:r>
          </a:p>
          <a:p>
            <a:pPr>
              <a:spcAft>
                <a:spcPts val="300"/>
              </a:spcAft>
              <a:defRPr sz="840">
                <a:solidFill>
                  <a:srgbClr val="FFFFFF"/>
                </a:solidFill>
                <a:latin typeface="Aptos"/>
              </a:defRPr>
            </a:pPr>
            <a:r>
              <a:t>- TFT-XGB fusion</a:t>
            </a:r>
          </a:p>
          <a:p>
            <a:pPr>
              <a:spcAft>
                <a:spcPts val="300"/>
              </a:spcAft>
              <a:defRPr sz="840">
                <a:solidFill>
                  <a:srgbClr val="FFFFFF"/>
                </a:solidFill>
                <a:latin typeface="Aptos"/>
              </a:defRPr>
            </a:pPr>
            <a:r>
              <a:t>- CQR calibration</a:t>
            </a:r>
          </a:p>
          <a:p>
            <a:pPr>
              <a:spcAft>
                <a:spcPts val="300"/>
              </a:spcAft>
              <a:defRPr sz="840">
                <a:solidFill>
                  <a:srgbClr val="FFFFFF"/>
                </a:solidFill>
                <a:latin typeface="Aptos"/>
              </a:defRPr>
            </a:pPr>
            <a:r>
              <a:t>- Results and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5166360"/>
            <a:ext cx="1664208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19" b="1">
                <a:solidFill>
                  <a:srgbClr val="459A6D"/>
                </a:solidFill>
                <a:latin typeface="Aptos"/>
              </a:rPr>
              <a:t>Best model: TFT-XGBFusion-CQR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The Problem Worth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987552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800" b="1">
                <a:solidFill>
                  <a:srgbClr val="0C9291"/>
                </a:solidFill>
                <a:latin typeface="Aptos"/>
              </a:rPr>
              <a:t>Why does Indian food price forecasting need a better approach?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65836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Indian food prices are highly volatile — onion prices surged 5× in 2019 due to monsoon failure and export bans.</a:t>
            </a:r>
          </a:p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Price shocks affect food security for hundreds of millions and disrupt farmer income, procurement, and policy decisions.</a:t>
            </a:r>
          </a:p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Point-only forecasts do not quantify risk — stakeholders need a price range and a reason, not just a number.</a:t>
            </a:r>
          </a:p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Existing models lack calibrated uncertainty bands and interpretable, statistically stable feature attribution.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298448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298448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139903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₹130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1764792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Peak onion</a:t>
            </a:r>
          </a:p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price 2019 (Rs/KG)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298448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2680" y="1298448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13848" y="139903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3848" y="1764792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People food-</a:t>
            </a:r>
          </a:p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3317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18120" y="2331720"/>
            <a:ext cx="73152" cy="822960"/>
          </a:xfrm>
          <a:prstGeom prst="rect">
            <a:avLst/>
          </a:prstGeom>
          <a:solidFill>
            <a:srgbClr val="4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2432303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798063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Years of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23317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12680" y="2331720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13848" y="2432303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2798063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Staple commodities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703320"/>
            <a:ext cx="4800600" cy="169164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What was missing:</a:t>
            </a:r>
          </a:p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Calibrated price bands</a:t>
            </a:r>
          </a:p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+ Interpretable attribution</a:t>
            </a:r>
          </a:p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+ Practical decision interface</a:t>
            </a:r>
          </a:p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→ This project delivers all three.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3493008"/>
            <a:ext cx="5623560" cy="205740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dashboard_view1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804" y="3547872"/>
            <a:ext cx="3029712" cy="1947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32688"/>
            <a:ext cx="813816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700" b="1">
                <a:solidFill>
                  <a:srgbClr val="0C9291"/>
                </a:solidFill>
                <a:latin typeface="Aptos"/>
              </a:rPr>
              <a:t>What are we forecasting, for whom, and how will we know it worked?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4983480" cy="160020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Input: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  WFP prices: 3 commodities × 53 markets (2010–2022)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  NASA weather: temperature, rainfall, humidity (monthly)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/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Task: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  Forecast q10, q50, q90 for 1–6 months ahead per series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  No look-ahead leakage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/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Constraints: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  Calibrated bands  ·  Stable feature attribution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/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Evaluation:</a:t>
            </a:r>
          </a:p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  2023+ test, n=792  ·  MAE · MAPE · Coverage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44768" y="1417320"/>
          <a:ext cx="50749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Commodities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Onions, Tomatoes, 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Markets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53 WFP-reported markets across India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Training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2010 to Dec 2021 (TFT); XGBoost up to 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Forecast outputs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q10, q50, q90 per market-commodity series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78992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F1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19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F19D38"/>
                </a:solidFill>
                <a:latin typeface="Aptos"/>
              </a:rPr>
              <a:t>Price history</a:t>
            </a:r>
          </a:p>
          <a:p>
            <a:pPr algn="ctr"/>
            <a:r>
              <a:rPr sz="1030" b="1">
                <a:solidFill>
                  <a:srgbClr val="F19D38"/>
                </a:solidFill>
                <a:latin typeface="Aptos"/>
              </a:rPr>
              <a:t>+ weather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4270248"/>
            <a:ext cx="502920" cy="27432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49039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B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8768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7B58AB"/>
                </a:solidFill>
                <a:latin typeface="Aptos"/>
              </a:rPr>
              <a:t>XGBoost + TFT</a:t>
            </a:r>
          </a:p>
          <a:p>
            <a:pPr algn="ctr"/>
            <a:r>
              <a:rPr sz="1030" b="1">
                <a:solidFill>
                  <a:srgbClr val="7B58AB"/>
                </a:solidFill>
                <a:latin typeface="Aptos"/>
              </a:rPr>
              <a:t>quantile model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97296" y="4270248"/>
            <a:ext cx="502920" cy="27432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19088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8816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0C9291"/>
                </a:solidFill>
                <a:latin typeface="Aptos"/>
              </a:rPr>
              <a:t>q10/q50/q90</a:t>
            </a:r>
          </a:p>
          <a:p>
            <a:pPr algn="ctr"/>
            <a:r>
              <a:rPr sz="1030" b="1">
                <a:solidFill>
                  <a:srgbClr val="0C9291"/>
                </a:solidFill>
                <a:latin typeface="Aptos"/>
              </a:rPr>
              <a:t>forecast bands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67344" y="4270248"/>
            <a:ext cx="502920" cy="27432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98280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7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459A6D"/>
                </a:solidFill>
                <a:latin typeface="Aptos"/>
              </a:rPr>
              <a:t>Calibrated bands</a:t>
            </a:r>
          </a:p>
          <a:p>
            <a:pPr algn="ctr"/>
            <a:r>
              <a:rPr sz="1030" b="1">
                <a:solidFill>
                  <a:srgbClr val="459A6D"/>
                </a:solidFill>
                <a:latin typeface="Aptos"/>
              </a:rPr>
              <a:t>+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2"/>
            <a:ext cx="987552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20" b="1">
                <a:solidFill>
                  <a:srgbClr val="D95849"/>
                </a:solidFill>
                <a:latin typeface="Aptos"/>
              </a:rPr>
              <a:t>Design principle: the forecast output must be usable by non-ML stakeholders —</a:t>
            </a:r>
          </a:p>
          <a:p>
            <a:pPr algn="l"/>
            <a:r>
              <a:rPr sz="1220" b="1">
                <a:solidFill>
                  <a:srgbClr val="D95849"/>
                </a:solidFill>
                <a:latin typeface="Aptos"/>
              </a:rPr>
              <a:t>a price range with an explanation, not just a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Project Question and Design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987552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800" b="1">
                <a:solidFill>
                  <a:srgbClr val="0C9291"/>
                </a:solidFill>
                <a:latin typeface="Aptos"/>
              </a:rPr>
              <a:t>Can we forecast Indian food prices with accuracy, uncertainty, and explanation?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65836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Point forecast alone is risky during onion and tomato shock periods.</a:t>
            </a:r>
          </a:p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The project predicts q10, q50, and q90 prices for 1-6 months ahead.</a:t>
            </a:r>
          </a:p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TFT gives dynamic feature weights and attention; CQR makes bands empirically reliable.</a:t>
            </a:r>
          </a:p>
          <a:p>
            <a:pPr>
              <a:spcAft>
                <a:spcPts val="500"/>
              </a:spcAft>
              <a:defRPr sz="1260">
                <a:solidFill>
                  <a:srgbClr val="1B1F2A"/>
                </a:solidFill>
                <a:latin typeface="Aptos"/>
              </a:defRPr>
            </a:pPr>
            <a:r>
              <a:t>- The final dashboard exposes history, future bands, explanations, and test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298448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298448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139903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1764792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Test MAPE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298448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2680" y="1298448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13848" y="139903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84.0%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3848" y="1764792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Band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3317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18120" y="2331720"/>
            <a:ext cx="73152" cy="822960"/>
          </a:xfrm>
          <a:prstGeom prst="rect">
            <a:avLst/>
          </a:prstGeom>
          <a:solidFill>
            <a:srgbClr val="4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2432303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792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798063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Test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23317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12680" y="2331720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13848" y="2432303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2798063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Series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703320"/>
            <a:ext cx="4800600" cy="169164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System answer:
WFP prices + NASA weather
-&gt; 26 engineered features
-&gt; XGBoost point signal
-&gt; TFT quantile forecast
-&gt; per-commodity CQR
-&gt; Streamlit decision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3493008"/>
            <a:ext cx="5623560" cy="205740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dashboard_view1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804" y="3547872"/>
            <a:ext cx="3029712" cy="1947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Dataset and Modeling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656" y="960120"/>
            <a:ext cx="73152" cy="822960"/>
          </a:xfrm>
          <a:prstGeom prst="rect">
            <a:avLst/>
          </a:prstGeom>
          <a:solidFill>
            <a:srgbClr val="4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145,124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Raw WFP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07792" y="960120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16,939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Final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38928" y="960120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0096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Markets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0064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70064" y="960120"/>
            <a:ext cx="73152" cy="822960"/>
          </a:xfrm>
          <a:prstGeom prst="rect">
            <a:avLst/>
          </a:prstGeom>
          <a:solidFill>
            <a:srgbClr val="F1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71232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Commodities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0" y="960120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02368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2023+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Test period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76656" y="214884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Selected content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WFP food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Target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Monthly retail prices, 1994-2026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WFP markets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Spatial join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53 city coordinates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NASA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Weather covariates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Rainfall, temperature, 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Processed panel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Model input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Market x commodity monthly series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29400" y="2148840"/>
          <a:ext cx="48920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Commodity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Series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Volatility meaning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Onions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5,003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Seasonal crisis-prone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Tomatoes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5,245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Fast spike-prone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6,691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Stable staple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748272" y="3886200"/>
            <a:ext cx="4572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B1F2A"/>
                </a:solidFill>
                <a:latin typeface="Aptos"/>
              </a:defRPr>
            </a:pPr>
            <a:r>
              <a:t>- Train: up to Dec 2021 for the final TFT family.</a:t>
            </a:r>
          </a:p>
          <a:p>
            <a:pPr>
              <a:spcAft>
                <a:spcPts val="500"/>
              </a:spcAft>
              <a:defRPr sz="1120">
                <a:solidFill>
                  <a:srgbClr val="1B1F2A"/>
                </a:solidFill>
                <a:latin typeface="Aptos"/>
              </a:defRPr>
            </a:pPr>
            <a:r>
              <a:t>- Validation: 2022, used for early stopping and CQR offsets.</a:t>
            </a:r>
          </a:p>
          <a:p>
            <a:pPr>
              <a:spcAft>
                <a:spcPts val="500"/>
              </a:spcAft>
              <a:defRPr sz="1120">
                <a:solidFill>
                  <a:srgbClr val="1B1F2A"/>
                </a:solidFill>
                <a:latin typeface="Aptos"/>
              </a:defRPr>
            </a:pPr>
            <a:r>
              <a:t>- Test: 2023 onward, held out for final evaluation.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4315968"/>
            <a:ext cx="5669280" cy="123444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Group key = market + commodity
Target = log1p(price Rs/KG)
Horizon H = 6 months
Encoder window = 24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End-to-End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051560"/>
            <a:ext cx="1508760" cy="78638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161288"/>
            <a:ext cx="1289304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4367B4"/>
                </a:solidFill>
                <a:latin typeface="Aptos"/>
              </a:rPr>
              <a:t>Raw data
WFP + NASA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67712" y="1261872"/>
            <a:ext cx="438912" cy="310896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79776" y="1051560"/>
            <a:ext cx="1481328" cy="78638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9504" y="1161288"/>
            <a:ext cx="1261872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0C9291"/>
                </a:solidFill>
                <a:latin typeface="Aptos"/>
              </a:rPr>
              <a:t>Cleaning
and filtering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52544" y="1261872"/>
            <a:ext cx="438912" cy="310896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64608" y="1051560"/>
            <a:ext cx="1481328" cy="78638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B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6" y="1161288"/>
            <a:ext cx="1261872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7B58AB"/>
                </a:solidFill>
                <a:latin typeface="Aptos"/>
              </a:rPr>
              <a:t>Feature panel
26 columns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422392" y="1920240"/>
            <a:ext cx="347472" cy="475488"/>
          </a:xfrm>
          <a:prstGeom prst="down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64992" y="2542032"/>
            <a:ext cx="1719072" cy="74980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F1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651760"/>
            <a:ext cx="1499616" cy="5303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F19D38"/>
                </a:solidFill>
                <a:latin typeface="Aptos"/>
              </a:rPr>
              <a:t>XGBoost
point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542032"/>
            <a:ext cx="1847088" cy="74980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87568" y="2651760"/>
            <a:ext cx="1627632" cy="5303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0C9291"/>
                </a:solidFill>
                <a:latin typeface="Aptos"/>
              </a:rPr>
              <a:t>TFT quantiles
q10 / q50 / q90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75504" y="2770632"/>
            <a:ext cx="329184" cy="246888"/>
          </a:xfrm>
          <a:prstGeom prst="rightArrow">
            <a:avLst/>
          </a:prstGeom>
          <a:solidFill>
            <a:srgbClr val="F1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3127248"/>
            <a:ext cx="74980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80" b="1">
                <a:solidFill>
                  <a:srgbClr val="F19D38"/>
                </a:solidFill>
                <a:latin typeface="Aptos"/>
              </a:rPr>
              <a:t>xgb_log_pred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291072" y="3401568"/>
            <a:ext cx="365760" cy="457200"/>
          </a:xfrm>
          <a:prstGeom prst="down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38928" y="3968496"/>
            <a:ext cx="2103120" cy="78638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48656" y="4078224"/>
            <a:ext cx="1883663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459A6D"/>
                </a:solidFill>
                <a:latin typeface="Aptos"/>
              </a:rPr>
              <a:t>Per-commodity
CQR calibration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7608" y="4846320"/>
            <a:ext cx="365760" cy="475488"/>
          </a:xfrm>
          <a:prstGeom prst="down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00600" y="5413248"/>
            <a:ext cx="278892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10328" y="5522976"/>
            <a:ext cx="2569463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4367B4"/>
                </a:solidFill>
                <a:latin typeface="Aptos"/>
              </a:rPr>
              <a:t>Streamlit dashboard
forecast + explain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078992"/>
            <a:ext cx="3154680" cy="49377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85632" y="1335024"/>
            <a:ext cx="26517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50" b="1">
                <a:solidFill>
                  <a:srgbClr val="0C9291"/>
                </a:solidFill>
                <a:latin typeface="Aptos"/>
              </a:rPr>
              <a:t>Main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783080"/>
            <a:ext cx="260604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940">
                <a:solidFill>
                  <a:srgbClr val="1B1F2A"/>
                </a:solidFill>
                <a:latin typeface="Aptos"/>
              </a:defRPr>
            </a:pPr>
            <a:r>
              <a:t>- models/xgb_clean_2019.pkl</a:t>
            </a:r>
          </a:p>
          <a:p>
            <a:pPr>
              <a:spcAft>
                <a:spcPts val="500"/>
              </a:spcAft>
              <a:defRPr sz="940">
                <a:solidFill>
                  <a:srgbClr val="1B1F2A"/>
                </a:solidFill>
                <a:latin typeface="Aptos"/>
              </a:defRPr>
            </a:pPr>
            <a:r>
              <a:t>- models/tft_best_xgbfused.ckpt</a:t>
            </a:r>
          </a:p>
          <a:p>
            <a:pPr>
              <a:spcAft>
                <a:spcPts val="500"/>
              </a:spcAft>
              <a:defRPr sz="940">
                <a:solidFill>
                  <a:srgbClr val="1B1F2A"/>
                </a:solidFill>
                <a:latin typeface="Aptos"/>
              </a:defRPr>
            </a:pPr>
            <a:r>
              <a:t>- models/conformal_offsets_step5.json</a:t>
            </a:r>
          </a:p>
          <a:p>
            <a:pPr>
              <a:spcAft>
                <a:spcPts val="500"/>
              </a:spcAft>
              <a:defRPr sz="940">
                <a:solidFill>
                  <a:srgbClr val="1B1F2A"/>
                </a:solidFill>
                <a:latin typeface="Aptos"/>
              </a:defRPr>
            </a:pPr>
            <a:r>
              <a:t>- data/processed/tft_predictions_calibrated_step5.csv</a:t>
            </a:r>
          </a:p>
          <a:p>
            <a:pPr>
              <a:spcAft>
                <a:spcPts val="500"/>
              </a:spcAft>
              <a:defRPr sz="940">
                <a:solidFill>
                  <a:srgbClr val="1B1F2A"/>
                </a:solidFill>
                <a:latin typeface="Aptos"/>
              </a:defRPr>
            </a:pPr>
            <a:r>
              <a:t>- app.py dashboard selects best available family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85632" y="4206240"/>
            <a:ext cx="2651760" cy="1078992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850">
                <a:solidFill>
                  <a:srgbClr val="EBEFF5"/>
                </a:solidFill>
                <a:latin typeface="Consolas"/>
              </a:rPr>
              <a:t>Final family = step5
Name = TFT-XGBFusion-CQR
Active when fused checkpoint
and fused dataset exist.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024128"/>
          <a:ext cx="57150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1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Static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commodity, market,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Series identity and regional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month, season, sin/cos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Known future seasonal structure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Price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lag_1m, lag_12m, rolling_3m/6m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Momentum and annual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rainfall, temperature, humidity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Supply-side stress signal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Shock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rain_deficit, heat_stress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Nonlinear crisis regimes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1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Fusion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xgb_log_pred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B1F2A"/>
                          </a:solidFill>
                        </a:defRPr>
                      </a:pPr>
                      <a:r>
                        <a:t>Strong point prior for TFT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56832" y="1078992"/>
            <a:ext cx="4754880" cy="182880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890">
                <a:solidFill>
                  <a:srgbClr val="EBEFF5"/>
                </a:solidFill>
                <a:latin typeface="Consolas"/>
              </a:rPr>
              <a:t>log_price = log(1 + price)
month_sin = sin(2*pi*month/12)
month_cos = cos(2*pi*month/12)
roll_3(s,t) = mean(p[s,t], p[s,t-1], p[s,t-2])
yoy_change = (p[s,t] - p[s,t-12]) / p[s,t-12]
rain_deficit = 1 if rainfall &lt; 25th percentile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3246120"/>
            <a:ext cx="4462272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10">
                <a:solidFill>
                  <a:srgbClr val="1B1F2A"/>
                </a:solidFill>
                <a:latin typeface="Aptos"/>
              </a:defRPr>
            </a:pPr>
            <a:r>
              <a:t>- Features are shared by XGBoost and TFT to keep the comparison controlled.</a:t>
            </a:r>
          </a:p>
          <a:p>
            <a:pPr>
              <a:spcAft>
                <a:spcPts val="500"/>
              </a:spcAft>
              <a:defRPr sz="1110">
                <a:solidFill>
                  <a:srgbClr val="1B1F2A"/>
                </a:solidFill>
                <a:latin typeface="Aptos"/>
              </a:defRPr>
            </a:pPr>
            <a:r>
              <a:t>- Log-price reduces spike dominance while preserving multiplicative changes.</a:t>
            </a:r>
          </a:p>
          <a:p>
            <a:pPr>
              <a:spcAft>
                <a:spcPts val="500"/>
              </a:spcAft>
              <a:defRPr sz="1110">
                <a:solidFill>
                  <a:srgbClr val="1B1F2A"/>
                </a:solidFill>
                <a:latin typeface="Aptos"/>
              </a:defRPr>
            </a:pPr>
            <a:r>
              <a:t>- Binary weather shocks give the VSN readable, domain-aligned gates.</a:t>
            </a:r>
          </a:p>
          <a:p>
            <a:pPr>
              <a:spcAft>
                <a:spcPts val="500"/>
              </a:spcAft>
              <a:defRPr sz="1110">
                <a:solidFill>
                  <a:srgbClr val="1B1F2A"/>
                </a:solidFill>
                <a:latin typeface="Aptos"/>
              </a:defRPr>
            </a:pPr>
            <a:r>
              <a:t>- The fused XGBoost feature is created using a leakage-controlled pre-2020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736592"/>
            <a:ext cx="5486400" cy="7315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20" b="1">
                <a:solidFill>
                  <a:srgbClr val="0C9291"/>
                </a:solidFill>
                <a:latin typeface="Aptos"/>
              </a:rPr>
              <a:t>Simple idea: convert raw price history into a supervised panel where every row knows its season, market, weather state, and price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Model Stack: Point + Distribution +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170432"/>
            <a:ext cx="2011680" cy="11704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F1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280160"/>
            <a:ext cx="1792224" cy="9509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80" b="1">
                <a:solidFill>
                  <a:srgbClr val="F19D38"/>
                </a:solidFill>
                <a:latin typeface="Aptos"/>
              </a:rPr>
              <a:t>XGBoost
500 trees
max_depth=6
eta=0.05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70432"/>
            <a:ext cx="2084831" cy="11704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84448" y="1280160"/>
            <a:ext cx="1865376" cy="9509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80" b="1">
                <a:solidFill>
                  <a:srgbClr val="0C9291"/>
                </a:solidFill>
                <a:latin typeface="Aptos"/>
              </a:rPr>
              <a:t>Temporal Fusion
Transformer
q10 q50 q90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170432"/>
            <a:ext cx="2084831" cy="11704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280160"/>
            <a:ext cx="1865376" cy="9509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80" b="1">
                <a:solidFill>
                  <a:srgbClr val="459A6D"/>
                </a:solidFill>
                <a:latin typeface="Aptos"/>
              </a:rPr>
              <a:t>CQR
per commodity
log-space offset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170432"/>
            <a:ext cx="2084831" cy="11704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08007" y="1280160"/>
            <a:ext cx="1865376" cy="9509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80" b="1">
                <a:solidFill>
                  <a:srgbClr val="4367B4"/>
                </a:solidFill>
                <a:latin typeface="Aptos"/>
              </a:rPr>
              <a:t>Dashboard
forecast band
explanation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71216" y="1600200"/>
            <a:ext cx="502920" cy="310896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687568" y="1600200"/>
            <a:ext cx="502920" cy="310896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8531352" y="1600200"/>
            <a:ext cx="502920" cy="310896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49808" y="2971800"/>
          <a:ext cx="4983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Limitation solved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single log-price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Strong tabular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TFT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three quantiles per horizon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Uncertainty + interpretability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CQR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adjusted q10/q90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Empirical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interactive evidence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B1F2A"/>
                          </a:solidFill>
                        </a:defRPr>
                      </a:pPr>
                      <a:r>
                        <a:t>Usability and audit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199632" y="2944368"/>
            <a:ext cx="4892040" cy="155448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19">
                <a:solidFill>
                  <a:srgbClr val="EBEFF5"/>
                </a:solidFill>
                <a:latin typeface="Consolas"/>
              </a:rPr>
              <a:t>Prediction object per future month:
lower = q10_calibrated
median = q50
upper = q90_calibrated
Risk label uses relative band width:
(upper - lower) / median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28032"/>
            <a:ext cx="475488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00" b="1">
                <a:solidFill>
                  <a:srgbClr val="0C9291"/>
                </a:solidFill>
                <a:latin typeface="Aptos"/>
              </a:rPr>
              <a:t>Key design choice: XGBoost is not just averaged with TFT. Its prediction becomes a known covariate, so TFT can learn when to trust or override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TFT Architecture in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60120"/>
            <a:ext cx="10881360" cy="507492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417320" cy="8686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527048"/>
            <a:ext cx="1197864" cy="6492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9" b="1">
                <a:solidFill>
                  <a:srgbClr val="4367B4"/>
                </a:solidFill>
                <a:latin typeface="Aptos"/>
              </a:rPr>
              <a:t>Static IDs
commodity
market
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417320" cy="8686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898648"/>
            <a:ext cx="1197864" cy="6492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9" b="1">
                <a:solidFill>
                  <a:srgbClr val="459A6D"/>
                </a:solidFill>
                <a:latin typeface="Aptos"/>
              </a:rPr>
              <a:t>Known future
month, season
xgb_log_pred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60520"/>
            <a:ext cx="1417320" cy="8686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F1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270248"/>
            <a:ext cx="1197864" cy="6492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9" b="1">
                <a:solidFill>
                  <a:srgbClr val="F19D38"/>
                </a:solidFill>
                <a:latin typeface="Aptos"/>
              </a:rPr>
              <a:t>Observed past
price, weather
lags, shocks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4" y="1938528"/>
            <a:ext cx="1664208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B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048256"/>
            <a:ext cx="1444752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7B58AB"/>
                </a:solidFill>
                <a:latin typeface="Aptos"/>
              </a:rPr>
              <a:t>VSN gates
Softmax weights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554480"/>
            <a:ext cx="1572768" cy="7680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664207"/>
            <a:ext cx="1353312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0C9291"/>
                </a:solidFill>
                <a:latin typeface="Aptos"/>
              </a:rPr>
              <a:t>LSTM encoder
24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761488"/>
            <a:ext cx="1572768" cy="7680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792" y="2871216"/>
            <a:ext cx="1353312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0C9291"/>
                </a:solidFill>
                <a:latin typeface="Aptos"/>
              </a:rPr>
              <a:t>LSTM decoder
6 months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87184" y="2157984"/>
            <a:ext cx="1481328" cy="78638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6912" y="2267712"/>
            <a:ext cx="1261872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4367B4"/>
                </a:solidFill>
                <a:latin typeface="Aptos"/>
              </a:rPr>
              <a:t>Static
enrichment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57984"/>
            <a:ext cx="1481328" cy="78638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5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2267712"/>
            <a:ext cx="1261872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D95849"/>
                </a:solidFill>
                <a:latin typeface="Aptos"/>
              </a:rPr>
              <a:t>Interpretable
attention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840480"/>
            <a:ext cx="1481328" cy="78638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3950208"/>
            <a:ext cx="1261872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459A6D"/>
                </a:solidFill>
                <a:latin typeface="Aptos"/>
              </a:rPr>
              <a:t>Quantile heads
q10 q50 q90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450592" y="2907792"/>
            <a:ext cx="347472" cy="237744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4626864" y="2331720"/>
            <a:ext cx="365760" cy="237744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6729984" y="2450592"/>
            <a:ext cx="365760" cy="237744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8741664" y="2450592"/>
            <a:ext cx="329184" cy="237744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9692640" y="3072384"/>
            <a:ext cx="310896" cy="411480"/>
          </a:xfrm>
          <a:prstGeom prst="down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34640" y="4005072"/>
            <a:ext cx="3977639" cy="114300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860">
                <a:solidFill>
                  <a:srgbClr val="EBEFF5"/>
                </a:solidFill>
                <a:latin typeface="Consolas"/>
              </a:rPr>
              <a:t>Configuration:
hidden_size=32
attention_heads=2
lstm_layers=1
hidden_continuous=16
dropout=0.2
quantiles=[0.1,0.5,0.9]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892040"/>
            <a:ext cx="352044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B1F2A"/>
                </a:solidFill>
                <a:latin typeface="Aptos"/>
              </a:defRPr>
            </a:pPr>
            <a:r>
              <a:t>- VSN answers: which input variable matters now?</a:t>
            </a:r>
          </a:p>
          <a:p>
            <a:pPr>
              <a:spcAft>
                <a:spcPts val="500"/>
              </a:spcAft>
              <a:defRPr sz="919">
                <a:solidFill>
                  <a:srgbClr val="1B1F2A"/>
                </a:solidFill>
                <a:latin typeface="Aptos"/>
              </a:defRPr>
            </a:pPr>
            <a:r>
              <a:t>- Attention answers: which past month influenced this horizon?</a:t>
            </a:r>
          </a:p>
          <a:p>
            <a:pPr>
              <a:spcAft>
                <a:spcPts val="500"/>
              </a:spcAft>
              <a:defRPr sz="919">
                <a:solidFill>
                  <a:srgbClr val="1B1F2A"/>
                </a:solidFill>
                <a:latin typeface="Aptos"/>
              </a:defRPr>
            </a:pPr>
            <a:r>
              <a:t>- Quantile heads answer: what is the likely range, not only the center?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XGBoost Fusion Without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32688"/>
            <a:ext cx="813816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700" b="1">
                <a:solidFill>
                  <a:srgbClr val="0C9291"/>
                </a:solidFill>
                <a:latin typeface="Aptos"/>
              </a:rPr>
              <a:t>The strongest point model is injected into TFT as xgb_log_pred.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4983480" cy="160020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1. Train auxiliary XGBoost only up to 2019-12.
2. Generate xgb_log_pred for all rows after that.
3. Add xgb_log_pred as a known real covariate.
4. Train TFT up to 2021-12, validate on 2022.
5. Test on 2023+ with CQR-calibrated bands.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44768" y="1417320"/>
          <a:ext cx="50749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Model family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Training cutoff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What changed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TFT-Base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Plain TFT, weaker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TFT-Retrain21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Fairer recent training window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TFT-XGBFusion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Adds xgb_log_pred known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TFT-XGBFusion-CQR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2021 + 2022 cal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Final calibrated band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78992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F1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19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F19D38"/>
                </a:solidFill>
                <a:latin typeface="Aptos"/>
              </a:rPr>
              <a:t>XGB prediction
strong local prior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4270248"/>
            <a:ext cx="502920" cy="27432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49039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B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8768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7B58AB"/>
                </a:solidFill>
                <a:latin typeface="Aptos"/>
              </a:rPr>
              <a:t>TFT VSN
learns gate weight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97296" y="4270248"/>
            <a:ext cx="502920" cy="27432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19088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8816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0C9291"/>
                </a:solidFill>
                <a:latin typeface="Aptos"/>
              </a:rPr>
              <a:t>Quantile output
keeps uncertainty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67344" y="4270248"/>
            <a:ext cx="502920" cy="27432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98280" y="4069080"/>
            <a:ext cx="1920240" cy="71323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7" y="4178808"/>
            <a:ext cx="1700784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30" b="1">
                <a:solidFill>
                  <a:srgbClr val="459A6D"/>
                </a:solidFill>
                <a:latin typeface="Aptos"/>
              </a:rPr>
              <a:t>CQR band
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2"/>
            <a:ext cx="987552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20" b="1">
                <a:solidFill>
                  <a:srgbClr val="D95849"/>
                </a:solidFill>
                <a:latin typeface="Aptos"/>
              </a:rPr>
              <a:t>Why pre-2020 XGB? It prevents calibration/test leakage: the signal used inside TFT has not already seen the answer for 2022-2023.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Quantile Loss and CQR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257800" cy="196596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19">
                <a:solidFill>
                  <a:srgbClr val="EBEFF5"/>
                </a:solidFill>
                <a:latin typeface="Consolas"/>
              </a:rPr>
              <a:t>Pinball loss for quantile q:
QL(y, yhat, q) = q * max(y - yhat, 0)
              + (1-q) * max(yhat - y, 0)
TFT total loss:
L = sum over q in {0.1,0.5,0.9}, horizon H=6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24128"/>
            <a:ext cx="4983480" cy="196596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19">
                <a:solidFill>
                  <a:srgbClr val="EBEFF5"/>
                </a:solidFill>
                <a:latin typeface="Consolas"/>
              </a:rPr>
              <a:t>CQR score on validation:
s_i = max(q10_i - y_i, y_i - q90_i)
Offset c = quantile_{1-alpha}(s_i)
q10_cal = q10 - c
q90_cal = q90 + c
Applied separately for onions, tomatoes, rice.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3456432"/>
          <a:ext cx="5257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Commodity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CQR offset in log space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Test coverage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Onions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-0.0277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Rice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0.0978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79.1%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Tomatoes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0.0432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82.5%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per-commodity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3383280"/>
            <a:ext cx="4983480" cy="192024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calibrat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04" y="3438144"/>
            <a:ext cx="2816351" cy="1810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623560"/>
            <a:ext cx="102412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>
                <a:solidFill>
                  <a:srgbClr val="0C9291"/>
                </a:solidFill>
                <a:latin typeface="Aptos"/>
              </a:rPr>
              <a:t>Plain meaning: CQR widens the predicted band only as much as the 2022 validation errors say is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987552"/>
          <a:ext cx="5623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Formula / definition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mean |y - q50|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Average Rs/KG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mean |(y - q50)/y| x 100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Scale-free percent error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mean 1[q10 &lt;= y &lt;= q90]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Band 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Band width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mean(q90 - q10)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Usefulness of uncertainty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29400" y="987552"/>
            <a:ext cx="4663440" cy="2084831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880">
                <a:solidFill>
                  <a:srgbClr val="EBEFF5"/>
                </a:solidFill>
                <a:latin typeface="Consolas"/>
              </a:rPr>
              <a:t>Test set discipline:
Train final TFT     : through 2021-12
Calibration window  : 2022
Held-out test       : 2023+
Matched test rows   : n = 792
Statistical checks:
paired t-test, Wilcoxon, Cohen's d,
binomial coverage test, VSN bootstrap.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675887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3675887"/>
            <a:ext cx="73152" cy="822960"/>
          </a:xfrm>
          <a:prstGeom prst="rect">
            <a:avLst/>
          </a:prstGeom>
          <a:solidFill>
            <a:srgbClr val="4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792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42231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Ablation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3675887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44368" y="3675887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5536" y="377647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4142231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Bootstrap resamples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3675887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75504" y="3675887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76672" y="377647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4142231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Coverage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675887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3675887"/>
            <a:ext cx="73152" cy="822960"/>
          </a:xfrm>
          <a:prstGeom prst="rect">
            <a:avLst/>
          </a:prstGeom>
          <a:solidFill>
            <a:srgbClr val="F1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07808" y="377647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1-6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4142231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Horizon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7776" y="3675887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37776" y="3675887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38944" y="377647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24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8944" y="4142231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Encoder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92040"/>
            <a:ext cx="102412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B1F2A"/>
                </a:solidFill>
                <a:latin typeface="Aptos"/>
              </a:defRPr>
            </a:pPr>
            <a:r>
              <a:t>- XGBoost is reported honestly as the better point-only baseline.</a:t>
            </a:r>
          </a:p>
          <a:p>
            <a:pPr>
              <a:spcAft>
                <a:spcPts val="500"/>
              </a:spcAft>
              <a:defRPr sz="1120">
                <a:solidFill>
                  <a:srgbClr val="1B1F2A"/>
                </a:solidFill>
                <a:latin typeface="Aptos"/>
              </a:defRPr>
            </a:pPr>
            <a:r>
              <a:t>- TFT-XGBFusion-CQR is evaluated as the best combined system: point + band + explanation.</a:t>
            </a:r>
          </a:p>
          <a:p>
            <a:pPr>
              <a:spcAft>
                <a:spcPts val="500"/>
              </a:spcAft>
              <a:defRPr sz="1120">
                <a:solidFill>
                  <a:srgbClr val="1B1F2A"/>
                </a:solidFill>
                <a:latin typeface="Aptos"/>
              </a:defRPr>
            </a:pPr>
            <a:r>
              <a:t>- Coverage is empirical test coverage, not a theoretical claim copied from quantile labels.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Main Results on 2023+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005840"/>
          <a:ext cx="6400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FFFFFF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 b="1">
                          <a:solidFill>
                            <a:srgbClr val="FFFFFF"/>
                          </a:solidFill>
                        </a:defRPr>
                      </a:pPr>
                      <a:r>
                        <a:t>Band width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XGBoost point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1.95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TFT-Base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10.53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29.1%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64.9%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23.62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TFT-EnsCQR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10.85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32.44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TFT-Retrain21-CQR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9.91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87.6%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34.78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TFT-XGBFusion-CQR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5.27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11.4%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11.99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024128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2360" y="1024128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53528" y="112471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5.27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1490472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Final MAE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024128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46920" y="1024128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48088" y="1124712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11.4%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088" y="1490472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Final MAPE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5740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2057400"/>
            <a:ext cx="73152" cy="822960"/>
          </a:xfrm>
          <a:prstGeom prst="rect">
            <a:avLst/>
          </a:prstGeom>
          <a:solidFill>
            <a:srgbClr val="4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3528" y="215798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84.0%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252374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05740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46920" y="2057400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48088" y="215798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11.99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252374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Band width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11880"/>
            <a:ext cx="5166360" cy="214884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ig_ablation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58" y="3666744"/>
            <a:ext cx="3262579" cy="203911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144768" y="3611880"/>
            <a:ext cx="5166360" cy="214884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evaluation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277" y="3666744"/>
            <a:ext cx="3755340" cy="20391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8680" y="5989320"/>
            <a:ext cx="103327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00" b="1">
                <a:solidFill>
                  <a:srgbClr val="0C9291"/>
                </a:solidFill>
                <a:latin typeface="Aptos"/>
              </a:rPr>
              <a:t>Result story: XGBoost wins raw point error; the final TFT stack wins the complete forecasting objective with calibrated uncertainty and inspectable explanations.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Commodity-Level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960120"/>
          <a:ext cx="5852160" cy="1723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Commodity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Onions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Best calibrated; seasonal memory helps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Tomatoes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8.13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Hardest due to sudden supply shocks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B1F2A"/>
                          </a:solidFill>
                        </a:defRPr>
                      </a:pPr>
                      <a:r>
                        <a:t>Stable series, narrower uncertainty need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2816352"/>
            <a:ext cx="3520440" cy="24688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quantile_forecast_tomat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289209"/>
            <a:ext cx="3410711" cy="15231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07408" y="2816352"/>
            <a:ext cx="3520440" cy="24688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quantile_forecast_on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282582"/>
            <a:ext cx="3410711" cy="153641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29016" y="2816352"/>
            <a:ext cx="3154680" cy="24688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quantile_forecast_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364964"/>
            <a:ext cx="3044952" cy="13716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3720" y="950976"/>
            <a:ext cx="4315968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B1F2A"/>
                </a:solidFill>
                <a:latin typeface="Aptos"/>
              </a:defRPr>
            </a:pPr>
            <a:r>
              <a:t>- Tomatoes show the widest practical risk because monthly data cannot capture short one-week crop failures.</a:t>
            </a:r>
          </a:p>
          <a:p>
            <a:pPr>
              <a:spcAft>
                <a:spcPts val="500"/>
              </a:spcAft>
              <a:defRPr sz="1000">
                <a:solidFill>
                  <a:srgbClr val="1B1F2A"/>
                </a:solidFill>
                <a:latin typeface="Aptos"/>
              </a:defRPr>
            </a:pPr>
            <a:r>
              <a:t>- Onions benefit from annual lag and rolling features around known crisis seasons.</a:t>
            </a:r>
          </a:p>
          <a:p>
            <a:pPr>
              <a:spcAft>
                <a:spcPts val="500"/>
              </a:spcAft>
              <a:defRPr sz="1000">
                <a:solidFill>
                  <a:srgbClr val="1B1F2A"/>
                </a:solidFill>
                <a:latin typeface="Aptos"/>
              </a:defRPr>
            </a:pPr>
            <a:r>
              <a:t>- Rice checks whether the same architecture can avoid exaggerating stable commodity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Explainability: Stable Feature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0.942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Kendall tau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960120"/>
            <a:ext cx="73152" cy="822960"/>
          </a:xfrm>
          <a:prstGeom prst="rect">
            <a:avLst/>
          </a:prstGeom>
          <a:solidFill>
            <a:srgbClr val="4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0.895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95% CI 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960120"/>
            <a:ext cx="2148840" cy="822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960120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8" y="1060704"/>
            <a:ext cx="18288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B1F2A"/>
                </a:solidFill>
                <a:latin typeface="Aptos"/>
              </a:rPr>
              <a:t>0.990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1426464"/>
            <a:ext cx="1828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>
                <a:solidFill>
                  <a:srgbClr val="5D6B7D"/>
                </a:solidFill>
                <a:latin typeface="Aptos"/>
              </a:rPr>
              <a:t>95% CI 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084831"/>
            <a:ext cx="5212080" cy="301752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ig_vsn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" y="2139696"/>
            <a:ext cx="4361688" cy="290779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72200" y="2084831"/>
            <a:ext cx="5029200" cy="301752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variable_importa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37042"/>
            <a:ext cx="4919472" cy="2713099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543800" y="960120"/>
          <a:ext cx="3657600" cy="129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Top encoder feature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Mean VSN weight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temperature_mean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0.143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rain_excess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0.143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rain_deficit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0.140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humidity_mean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0.066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0.060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914400" y="5577840"/>
            <a:ext cx="1005840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50" b="1">
                <a:solidFill>
                  <a:srgbClr val="0C9291"/>
                </a:solidFill>
                <a:latin typeface="Aptos"/>
              </a:rPr>
              <a:t>The explanation is not just visual: ranking stability is tested with 1000 bootstrap resamples across series.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Attention and Forecast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87552"/>
            <a:ext cx="5257800" cy="233172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t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97" y="1042416"/>
            <a:ext cx="4581604" cy="22219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987552"/>
            <a:ext cx="4983480" cy="233172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tten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735" y="1042416"/>
            <a:ext cx="4857289" cy="22219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" y="3822191"/>
            <a:ext cx="5230368" cy="141732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00">
                <a:solidFill>
                  <a:srgbClr val="EBEFF5"/>
                </a:solidFill>
                <a:latin typeface="Consolas"/>
              </a:rPr>
              <a:t>Interpretation rule:
High attention at t-1  -&gt; recent momentum
High attention at t-12 -&gt; annual seasonality
Spread attention       -&gt; uncertain regime
VSN explains variables; attention explains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840480"/>
            <a:ext cx="475488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B1F2A"/>
                </a:solidFill>
                <a:latin typeface="Aptos"/>
              </a:defRPr>
            </a:pPr>
            <a:r>
              <a:t>- Dynamic VSN weights can change per market, commodity, and month.</a:t>
            </a:r>
          </a:p>
          <a:p>
            <a:pPr>
              <a:spcAft>
                <a:spcPts val="500"/>
              </a:spcAft>
              <a:defRPr sz="1100">
                <a:solidFill>
                  <a:srgbClr val="1B1F2A"/>
                </a:solidFill>
                <a:latin typeface="Aptos"/>
              </a:defRPr>
            </a:pPr>
            <a:r>
              <a:t>- Attention weights expose which encoder months affect each decoder horizon.</a:t>
            </a:r>
          </a:p>
          <a:p>
            <a:pPr>
              <a:spcAft>
                <a:spcPts val="500"/>
              </a:spcAft>
              <a:defRPr sz="1100">
                <a:solidFill>
                  <a:srgbClr val="1B1F2A"/>
                </a:solidFill>
                <a:latin typeface="Aptos"/>
              </a:defRPr>
            </a:pPr>
            <a:r>
              <a:t>- Together they let the dashboard answer why a forecast moved, not just what number changed.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Dashboard: Four Operational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212080" cy="205740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shboard_view1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984" y="1014984"/>
            <a:ext cx="3029712" cy="1947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960120"/>
            <a:ext cx="5212080" cy="205740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_view2_fu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384" y="1014984"/>
            <a:ext cx="3029712" cy="19476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3474720"/>
            <a:ext cx="5212080" cy="205740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shboard_view3_explain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984" y="3529584"/>
            <a:ext cx="3029712" cy="19476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3474720"/>
            <a:ext cx="5212080" cy="205740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dashboard_view4_evalu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384" y="3529584"/>
            <a:ext cx="3029712" cy="1947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5870448"/>
            <a:ext cx="1005840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20" b="1">
                <a:solidFill>
                  <a:srgbClr val="0C9291"/>
                </a:solidFill>
                <a:latin typeface="Aptos"/>
              </a:rPr>
              <a:t>Views: historical forecast, future forecast, model explainability, and present-vs-predicted test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4944" y="1005840"/>
          <a:ext cx="6400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Current limitation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Future improvement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Monthly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Weekly spikes are smoothed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Daily/weekly AGMARKNET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Monthly weather means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Short heat shocks invisible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Higher frequency weather features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Three commodities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Limited generality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Extend to pulses, oils, vegetables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Static calibration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Regime shifts may drift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Rolling conformal recalibration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Prototype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Manual artifact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B1F2A"/>
                          </a:solidFill>
                        </a:defRPr>
                      </a:pPr>
                      <a:r>
                        <a:t>Scheduled data/model update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042415"/>
            <a:ext cx="3520440" cy="23957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950976"/>
          <a:ext cx="6309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What it delivers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Leakage-controlled XGB→TFT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XGB trained up to 2019; its log-prediction is a TFT known covariate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Quantile forecasting (q10/q50/q90)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6-month price bands per market-commodity series, 53 markets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Per-commodity CQR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Conformal offsets from 2022 validation; 84.0% empirical test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Statistical explainability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Bootstrap VSN stability: Kendall τ = 0.942, 95% CI [0.895, 0.990]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Streamlit decision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B1F2A"/>
                          </a:solidFill>
                        </a:defRPr>
                      </a:pPr>
                      <a:r>
                        <a:t>Forecast bands, VSN attribution, and test validation on one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987552"/>
            <a:ext cx="3794760" cy="182880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10">
                <a:solidFill>
                  <a:srgbClr val="EBEFF5"/>
                </a:solidFill>
                <a:latin typeface="Consolas"/>
              </a:rPr>
              <a:t>TFT-XGBFusion-CQR on 2023+ test set:</a:t>
            </a:r>
          </a:p>
          <a:p>
            <a:pPr algn="ctr"/>
            <a:r>
              <a:rPr sz="910">
                <a:solidFill>
                  <a:srgbClr val="EBEFF5"/>
                </a:solidFill>
                <a:latin typeface="Consolas"/>
              </a:rPr>
              <a:t>5.27 Rs/KG MAE  ·  11.4% MAPE  ·  84.0% empirical coverage</a:t>
            </a:r>
          </a:p>
          <a:p>
            <a:pPr algn="ctr"/>
            <a:r>
              <a:rPr sz="910">
                <a:solidFill>
                  <a:srgbClr val="EBEFF5"/>
                </a:solidFill>
                <a:latin typeface="Consolas"/>
              </a:rPr>
              <a:t/>
            </a:r>
          </a:p>
          <a:p>
            <a:pPr algn="ctr"/>
            <a:r>
              <a:rPr sz="910">
                <a:solidFill>
                  <a:srgbClr val="EBEFF5"/>
                </a:solidFill>
                <a:latin typeface="Consolas"/>
              </a:rPr>
              <a:t>The system turns volatile food-price prediction into a decision-support workflow:</a:t>
            </a:r>
          </a:p>
          <a:p>
            <a:pPr algn="ctr"/>
            <a:r>
              <a:rPr sz="910">
                <a:solidFill>
                  <a:srgbClr val="EBEFF5"/>
                </a:solidFill>
                <a:latin typeface="Consolas"/>
              </a:rPr>
              <a:t>expected price, calibrated band, and model evidence — on one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337560"/>
            <a:ext cx="370332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1B1F2A"/>
                </a:solidFill>
                <a:latin typeface="Aptos"/>
              </a:defRPr>
            </a:pPr>
            <a:r>
              <a:t>Thank you</a:t>
            </a:r>
          </a:p>
          <a:p>
            <a:pPr>
              <a:spcAft>
                <a:spcPts val="500"/>
              </a:spcAft>
              <a:defRPr sz="1040">
                <a:solidFill>
                  <a:srgbClr val="1B1F2A"/>
                </a:solidFill>
                <a:latin typeface="Aptos"/>
              </a:defRPr>
            </a:pPr>
            <a:r>
              <a:t/>
            </a:r>
          </a:p>
          <a:p>
            <a:pPr>
              <a:spcAft>
                <a:spcPts val="500"/>
              </a:spcAft>
              <a:defRPr sz="1040">
                <a:solidFill>
                  <a:srgbClr val="1B1F2A"/>
                </a:solidFill>
                <a:latin typeface="Aptos"/>
              </a:defRPr>
            </a:pPr>
            <a:r>
              <a:t>Guided by: Dr. Shashidhar G Koolagudi, NIT Karnataka, Surathkal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03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Food Price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658368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B1F2A"/>
                </a:solidFill>
                <a:latin typeface="Aptos"/>
              </a:defRPr>
            </a:pPr>
            <a:r>
              <a:t>- Lim et al. (2021): Temporal Fusion Transformers for interpretable multi-horizon time series forecasting.</a:t>
            </a:r>
          </a:p>
          <a:p>
            <a:pPr>
              <a:spcAft>
                <a:spcPts val="500"/>
              </a:spcAft>
              <a:defRPr sz="1200">
                <a:solidFill>
                  <a:srgbClr val="1B1F2A"/>
                </a:solidFill>
                <a:latin typeface="Aptos"/>
              </a:defRPr>
            </a:pPr>
            <a:r>
              <a:t>- Romano et al. (2019): Conformalized Quantile Regression for distribution-free prediction intervals.</a:t>
            </a:r>
          </a:p>
          <a:p>
            <a:pPr>
              <a:spcAft>
                <a:spcPts val="500"/>
              </a:spcAft>
              <a:defRPr sz="1200">
                <a:solidFill>
                  <a:srgbClr val="1B1F2A"/>
                </a:solidFill>
                <a:latin typeface="Aptos"/>
              </a:defRPr>
            </a:pPr>
            <a:r>
              <a:t>- World Food Programme India food price dataset, HDX.</a:t>
            </a:r>
          </a:p>
          <a:p>
            <a:pPr>
              <a:spcAft>
                <a:spcPts val="500"/>
              </a:spcAft>
              <a:defRPr sz="1200">
                <a:solidFill>
                  <a:srgbClr val="1B1F2A"/>
                </a:solidFill>
                <a:latin typeface="Aptos"/>
              </a:defRPr>
            </a:pPr>
            <a:r>
              <a:t>- NASA POWER monthly point API for rainfall, temperature, and humidity covariates.</a:t>
            </a:r>
          </a:p>
          <a:p>
            <a:pPr>
              <a:spcAft>
                <a:spcPts val="500"/>
              </a:spcAft>
              <a:defRPr sz="1200">
                <a:solidFill>
                  <a:srgbClr val="1B1F2A"/>
                </a:solidFill>
                <a:latin typeface="Aptos"/>
              </a:defRPr>
            </a:pPr>
            <a:r>
              <a:t>- Project report and IEEE-style paper in Report&amp;Paper/ are the source documents for this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143000"/>
            <a:ext cx="3474720" cy="169164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t">
            <a:normAutofit/>
          </a:bodyPr>
          <a:lstStyle/>
          <a:p>
            <a:pPr algn="ctr"/>
            <a:r>
              <a:rPr sz="950">
                <a:solidFill>
                  <a:srgbClr val="EBEFF5"/>
                </a:solidFill>
                <a:latin typeface="Consolas"/>
              </a:rPr>
              <a:t>Core claim:
TFT-XGBFusion-CQR = point signal + quantile model + conformal reliability + built-in explanation.
This is why the final system is not only a model comparison; it is a complete forecasting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58768"/>
            <a:ext cx="5120640" cy="1965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alu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290" y="3913631"/>
            <a:ext cx="3418538" cy="18562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3858768"/>
            <a:ext cx="4846320" cy="196596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ft_encoder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370" y="3913631"/>
            <a:ext cx="4502859" cy="18562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2505</Words>
  <Application>Microsoft Office PowerPoint</Application>
  <PresentationFormat>Widescreen</PresentationFormat>
  <Paragraphs>449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devulapallitharun@outlook.com</cp:lastModifiedBy>
  <cp:revision>2</cp:revision>
  <dcterms:created xsi:type="dcterms:W3CDTF">2013-01-27T09:14:16Z</dcterms:created>
  <dcterms:modified xsi:type="dcterms:W3CDTF">2026-05-02T01:49:57Z</dcterms:modified>
  <cp:category/>
</cp:coreProperties>
</file>