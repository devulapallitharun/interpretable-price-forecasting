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B4BDCA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B4BDCA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F19D38"/>
                </a:solidFill>
                <a:latin typeface="Aptos"/>
              </a:rPr>
              <a:t>NIT Karnataka, Surathkal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6217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THEORY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65836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Assignment 1 and Assignment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874519"/>
            <a:ext cx="850392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D2DCEB"/>
                </a:solidFill>
                <a:latin typeface="Aptos"/>
              </a:rPr>
              <a:t>Natural Language Processing for Data Systems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1737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AAB8CB"/>
                </a:solidFill>
                <a:latin typeface="Aptos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606040"/>
            <a:ext cx="704088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ptos"/>
              </a:rPr>
              <a:t>Devulapalli Tharun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35808"/>
            <a:ext cx="1737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AAB8CB"/>
                </a:solidFill>
                <a:latin typeface="Aptos"/>
              </a:rPr>
              <a:t>Roll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035808"/>
            <a:ext cx="704088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ptos"/>
              </a:rPr>
              <a:t>252CS009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65576"/>
            <a:ext cx="1737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AAB8CB"/>
                </a:solidFill>
                <a:latin typeface="Aptos"/>
              </a:rPr>
              <a:t>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465576"/>
            <a:ext cx="704088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ptos"/>
              </a:rPr>
              <a:t>Computer Science (MTech)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95344"/>
            <a:ext cx="1737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AAB8CB"/>
                </a:solidFill>
                <a:latin typeface="Aptos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895344"/>
            <a:ext cx="704088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ptos"/>
              </a:rPr>
              <a:t>National Institute of Technology Karnataka, Surathkal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325112"/>
            <a:ext cx="1737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AAB8CB"/>
                </a:solidFill>
                <a:latin typeface="Aptos"/>
              </a:rPr>
              <a:t>Academic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325112"/>
            <a:ext cx="704088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ptos"/>
              </a:rPr>
              <a:t>2025-2026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932688"/>
            <a:ext cx="1920240" cy="5029200"/>
          </a:xfrm>
          <a:prstGeom prst="roundRect">
            <a:avLst/>
          </a:prstGeom>
          <a:solidFill>
            <a:srgbClr val="262D39"/>
          </a:solidFill>
          <a:ln w="13970">
            <a:solidFill>
              <a:srgbClr val="5D6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38944" y="1152144"/>
            <a:ext cx="15544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19D38"/>
                </a:solidFill>
                <a:latin typeface="Aptos"/>
              </a:rPr>
              <a:t>Deck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1600200"/>
            <a:ext cx="155448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880">
                <a:solidFill>
                  <a:srgbClr val="FFFFFF"/>
                </a:solidFill>
                <a:latin typeface="Aptos"/>
              </a:defRPr>
            </a:pPr>
            <a:r>
              <a:t>- Chapter 1 summary</a:t>
            </a:r>
          </a:p>
          <a:p>
            <a:pPr>
              <a:spcAft>
                <a:spcPts val="700"/>
              </a:spcAft>
              <a:defRPr sz="880">
                <a:solidFill>
                  <a:srgbClr val="FFFFFF"/>
                </a:solidFill>
                <a:latin typeface="Aptos"/>
              </a:defRPr>
            </a:pPr>
            <a:r>
              <a:t>- Reference algorithms review</a:t>
            </a:r>
          </a:p>
          <a:p>
            <a:pPr>
              <a:spcAft>
                <a:spcPts val="700"/>
              </a:spcAft>
              <a:defRPr sz="880">
                <a:solidFill>
                  <a:srgbClr val="FFFFFF"/>
                </a:solidFill>
                <a:latin typeface="Aptos"/>
              </a:defRPr>
            </a:pPr>
            <a:r>
              <a:t>- Research gap</a:t>
            </a:r>
          </a:p>
          <a:p>
            <a:pPr>
              <a:spcAft>
                <a:spcPts val="700"/>
              </a:spcAft>
              <a:defRPr sz="880">
                <a:solidFill>
                  <a:srgbClr val="FFFFFF"/>
                </a:solidFill>
                <a:latin typeface="Aptos"/>
              </a:defRPr>
            </a:pPr>
            <a:r>
              <a:t>- Proposed TFTH algorithm</a:t>
            </a:r>
          </a:p>
          <a:p>
            <a:pPr>
              <a:spcAft>
                <a:spcPts val="700"/>
              </a:spcAft>
              <a:defRPr sz="880">
                <a:solidFill>
                  <a:srgbClr val="FFFFFF"/>
                </a:solidFill>
                <a:latin typeface="Aptos"/>
              </a:defRPr>
            </a:pPr>
            <a:r>
              <a:t>- Evaluation and conclusion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Source Material and Submission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2412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5D6B7D"/>
                </a:solidFill>
                <a:latin typeface="Aptos"/>
              </a:rPr>
              <a:t>This presentation is created directly from your submitted Theory assignment files in this folder.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07008"/>
            <a:ext cx="22402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73152" cy="822960"/>
          </a:xfrm>
          <a:prstGeom prst="rect">
            <a:avLst/>
          </a:prstGeom>
          <a:solidFill>
            <a:srgbClr val="0C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316736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673352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Assignments 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207008"/>
            <a:ext cx="22402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1207008"/>
            <a:ext cx="73152" cy="822960"/>
          </a:xfrm>
          <a:prstGeom prst="rect">
            <a:avLst/>
          </a:prstGeom>
          <a:solidFill>
            <a:srgbClr val="F1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316736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673352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Target slide 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8112" y="1207008"/>
            <a:ext cx="22402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68112" y="1207008"/>
            <a:ext cx="73152" cy="822960"/>
          </a:xfrm>
          <a:prstGeom prst="rect">
            <a:avLst/>
          </a:prstGeom>
          <a:solidFill>
            <a:srgbClr val="4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316736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7+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73352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Reference algorithms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2983" y="1207008"/>
            <a:ext cx="22402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72983" y="1207008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1316736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TFTH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1673352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Proposed 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331720"/>
            <a:ext cx="1083564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1B1F2A"/>
                </a:solidFill>
                <a:latin typeface="Aptos"/>
              </a:defRPr>
            </a:pPr>
            <a:r>
              <a:t>- Theory 1\Chapter_1.pdf and Chapter_1.docx: Chapter 1 book draft on NLP in data systems.</a:t>
            </a:r>
          </a:p>
          <a:p>
            <a:pPr>
              <a:spcAft>
                <a:spcPts val="800"/>
              </a:spcAft>
              <a:defRPr sz="1220">
                <a:solidFill>
                  <a:srgbClr val="1B1F2A"/>
                </a:solidFill>
                <a:latin typeface="Aptos"/>
              </a:defRPr>
            </a:pPr>
            <a:r>
              <a:t>- Theory 2\chapter1_algorithms.pdf and chapter1_algorithms.docx: algorithm survey and proposed method.</a:t>
            </a:r>
          </a:p>
          <a:p>
            <a:pPr>
              <a:spcAft>
                <a:spcPts val="800"/>
              </a:spcAft>
              <a:defRPr sz="1220">
                <a:solidFill>
                  <a:srgbClr val="1B1F2A"/>
                </a:solidFill>
                <a:latin typeface="Aptos"/>
              </a:defRPr>
            </a:pPr>
            <a:r>
              <a:t>- Assignment 1 coverage in this deck is concise: key chapter ideas and summary points only.</a:t>
            </a:r>
          </a:p>
          <a:p>
            <a:pPr>
              <a:spcAft>
                <a:spcPts val="800"/>
              </a:spcAft>
              <a:defRPr sz="1220">
                <a:solidFill>
                  <a:srgbClr val="1B1F2A"/>
                </a:solidFill>
                <a:latin typeface="Aptos"/>
              </a:defRPr>
            </a:pPr>
            <a:r>
              <a:t>- Assignment 2 coverage is deeper, with dedicated slides emphasizing the proposed TF-Transformer Hybrid algorithm.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13232" y="5212080"/>
          <a:ext cx="107899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What this PPT includes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1F2A"/>
                          </a:solidFill>
                        </a:defRPr>
                      </a:pPr>
                      <a:r>
                        <a:t>Assignment 1 (Chapter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1F2A"/>
                          </a:solidFill>
                        </a:defRPr>
                      </a:pPr>
                      <a:r>
                        <a:t>Core concepts, chapter structure, enterprise relevance, chapter takeaway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1F2A"/>
                          </a:solidFill>
                        </a:defRPr>
                      </a:pPr>
                      <a:r>
                        <a:t>Assignment 2 (Algorithms)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1F2A"/>
                          </a:solidFill>
                        </a:defRPr>
                      </a:pPr>
                      <a:r>
                        <a:t>Existing algorithms, limitations, TFTH design, scoring equation, expected gains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Assignment 1: Chapter 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THEORY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562356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B1F2A"/>
                </a:solidFill>
                <a:latin typeface="Aptos"/>
              </a:defRPr>
            </a:pPr>
            <a:r>
              <a:t>- Chapter title: Introduction to NLP in Data Systems.</a:t>
            </a:r>
          </a:p>
          <a:p>
            <a:pPr>
              <a:spcAft>
                <a:spcPts val="900"/>
              </a:spcAft>
              <a:defRPr sz="1300">
                <a:solidFill>
                  <a:srgbClr val="1B1F2A"/>
                </a:solidFill>
                <a:latin typeface="Aptos"/>
              </a:defRPr>
            </a:pPr>
            <a:r>
              <a:t>- Purpose: explain how NLP converts unstructured text into structured, queryable knowledge.</a:t>
            </a:r>
          </a:p>
          <a:p>
            <a:pPr>
              <a:spcAft>
                <a:spcPts val="900"/>
              </a:spcAft>
              <a:defRPr sz="1300">
                <a:solidFill>
                  <a:srgbClr val="1B1F2A"/>
                </a:solidFill>
                <a:latin typeface="Aptos"/>
              </a:defRPr>
            </a:pPr>
            <a:r>
              <a:t>- Core storyline: data growth challenge -&gt; NLP evolution -&gt; data taxonomy -&gt; system integration -&gt; enterprise applications.</a:t>
            </a:r>
          </a:p>
          <a:p>
            <a:pPr>
              <a:spcAft>
                <a:spcPts val="900"/>
              </a:spcAft>
              <a:defRPr sz="1300">
                <a:solidFill>
                  <a:srgbClr val="1B1F2A"/>
                </a:solidFill>
                <a:latin typeface="Aptos"/>
              </a:defRPr>
            </a:pPr>
            <a:r>
              <a:t>- Style: combines conceptual discussion with complexity-oriented mathematical framing.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969264"/>
          <a:ext cx="528523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616"/>
                <a:gridCol w="2642616"/>
              </a:tblGrid>
              <a:tr h="568234">
                <a:tc>
                  <a:txBody>
                    <a:bodyPr/>
                    <a:lstStyle/>
                    <a:p>
                      <a:pPr>
                        <a:defRPr b="1" sz="919">
                          <a:solidFill>
                            <a:srgbClr val="FFFFFF"/>
                          </a:solidFill>
                        </a:defRPr>
                      </a:pPr>
                      <a:r>
                        <a:t>Chapter 1 section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19">
                          <a:solidFill>
                            <a:srgbClr val="FFFFFF"/>
                          </a:solidFill>
                        </a:defRPr>
                      </a:pPr>
                      <a:r>
                        <a:t>Main idea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1.1 Data-intensive computing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Big-data growth and compute/memory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1.2 Evolution of NLP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Rule-based -&gt; statistical -&gt; neural paradigms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1.3 Data taxonomy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Structured vs semi-structured vs unstructured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1.4 NLP in data systems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Semantic lifting architecture and throughput constraints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1.5 Enterprise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Sentiment, IE, retrieval, chatbots, fraud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1.6 Chapter summary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Key equations, complexity landscape, next chapter roadmap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864608"/>
            <a:ext cx="29260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864608"/>
            <a:ext cx="73152" cy="822960"/>
          </a:xfrm>
          <a:prstGeom prst="rect">
            <a:avLst/>
          </a:prstGeom>
          <a:solidFill>
            <a:srgbClr val="0C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974336"/>
            <a:ext cx="26060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NLP as semantic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330952"/>
            <a:ext cx="26060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Primary theme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864608"/>
            <a:ext cx="3108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4864608"/>
            <a:ext cx="73152" cy="822960"/>
          </a:xfrm>
          <a:prstGeom prst="rect">
            <a:avLst/>
          </a:prstGeom>
          <a:solidFill>
            <a:srgbClr val="7B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4974336"/>
            <a:ext cx="27889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High entropy -&gt; 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5330952"/>
            <a:ext cx="27889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Data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864608"/>
            <a:ext cx="35661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864608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8" y="4974336"/>
            <a:ext cx="32461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Scalable enterprise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5330952"/>
            <a:ext cx="32461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System focus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Chapter 1: Key Technical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THEORY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24128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Key point from chapter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Why it matters in systems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Data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Data volumes grow exponentially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Requires scalable storage and pipeline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NLP evolution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Symbolic -&gt; statistical -&gt; transformer models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Model choice impacts quality and compute cost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Semantic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Unstructured text needs computational lifting to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Enables analytics and SQL-like querying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Throughput limits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Latency and bandwidth constraints bound pipeline speed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Forces online/offline architecture split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Complexity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Attention and retrieval complexity are central bottlenecks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Guides algorithm and infra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434840"/>
            <a:ext cx="1060704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1B1F2A"/>
                </a:solidFill>
                <a:latin typeface="Aptos"/>
              </a:defRPr>
            </a:pPr>
            <a:r>
              <a:t>- Assignment 1 is strong on conceptual rigor: it frames NLP as part of data engineering, not only language modeling.</a:t>
            </a:r>
          </a:p>
          <a:p>
            <a:pPr>
              <a:spcAft>
                <a:spcPts val="800"/>
              </a:spcAft>
              <a:defRPr sz="1220">
                <a:solidFill>
                  <a:srgbClr val="1B1F2A"/>
                </a:solidFill>
                <a:latin typeface="Aptos"/>
              </a:defRPr>
            </a:pPr>
            <a:r>
              <a:t>- The chapter repeatedly links algorithmic complexity to practical deployment constraints in enterprise systems.</a:t>
            </a:r>
          </a:p>
          <a:p>
            <a:pPr>
              <a:spcAft>
                <a:spcPts val="800"/>
              </a:spcAft>
              <a:defRPr sz="1220">
                <a:solidFill>
                  <a:srgbClr val="1B1F2A"/>
                </a:solidFill>
                <a:latin typeface="Aptos"/>
              </a:defRPr>
            </a:pPr>
            <a:r>
              <a:t>- This foundation motivates Assignment 2, where algorithm selection and hybrid retrieval design become central.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Assignment 1: Enterprise NLP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THEORY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919">
                          <a:solidFill>
                            <a:srgbClr val="FFFFFF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19">
                          <a:solidFill>
                            <a:srgbClr val="FFFFFF"/>
                          </a:solidFill>
                        </a:defRPr>
                      </a:pPr>
                      <a:r>
                        <a:t>NLP task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19">
                          <a:solidFill>
                            <a:srgbClr val="FFFFFF"/>
                          </a:solidFill>
                        </a:defRPr>
                      </a:pPr>
                      <a:r>
                        <a:t>Operational value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Customer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Sentiment and intent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Faster product and support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Knowledge extraction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NER + relation extraction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Builds searchable enterprise knowledge graphs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Intelligent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Semantic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Higher relevance than keyword-only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Conversational systems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Dialogue understanding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Automates repetitive support workflows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Fraud/risk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Anomaly detection in textual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B1F2A"/>
                          </a:solidFill>
                        </a:defRPr>
                      </a:pPr>
                      <a:r>
                        <a:t>Improves early warning capabilities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617720"/>
            <a:ext cx="106984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974336"/>
            <a:ext cx="102870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1B1F2A"/>
                </a:solidFill>
                <a:latin typeface="Aptos"/>
              </a:rPr>
              <a:t>Assignment 1 takeaway: NLP should be engineered as a production data-system layer balancing semantic quality, latency, and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B4BDCA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B4BDC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49377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19D38"/>
                </a:solidFill>
                <a:latin typeface="Aptos"/>
              </a:rPr>
              <a:t>ASSIGNMENT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89611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Study of Existing NLP Algorithms and New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96926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D2DCEB"/>
                </a:solidFill>
                <a:latin typeface="Aptos"/>
              </a:rPr>
              <a:t>Focus: Reference algorithm analysis + proposed TF-Transformer Hybrid (TFTH)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86200"/>
            <a:ext cx="320040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886200"/>
            <a:ext cx="73152" cy="822960"/>
          </a:xfrm>
          <a:prstGeom prst="rect">
            <a:avLst/>
          </a:prstGeom>
          <a:solidFill>
            <a:srgbClr val="0C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995928"/>
            <a:ext cx="28803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Lexical + neural + ANN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352544"/>
            <a:ext cx="2880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Algorithm families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886200"/>
            <a:ext cx="237744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3886200"/>
            <a:ext cx="73152" cy="822960"/>
          </a:xfrm>
          <a:prstGeom prst="rect">
            <a:avLst/>
          </a:prstGeom>
          <a:solidFill>
            <a:srgbClr val="F1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995928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TFTH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35254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Proposed method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3886200"/>
            <a:ext cx="301752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67728" y="3886200"/>
            <a:ext cx="73152" cy="822960"/>
          </a:xfrm>
          <a:prstGeom prst="rect">
            <a:avLst/>
          </a:prstGeom>
          <a:solidFill>
            <a:srgbClr val="45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3995928"/>
            <a:ext cx="2697479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Large-scale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4352544"/>
            <a:ext cx="2697479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Target use 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Assignment 2: Existing Algorithm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THEORY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97280"/>
          <a:ext cx="1086307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768"/>
                <a:gridCol w="2715768"/>
                <a:gridCol w="2715768"/>
                <a:gridCol w="2715768"/>
              </a:tblGrid>
              <a:tr h="520065">
                <a:tc>
                  <a:txBody>
                    <a:bodyPr/>
                    <a:lstStyle/>
                    <a:p>
                      <a:pPr>
                        <a:defRPr b="1" sz="88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80">
                          <a:solidFill>
                            <a:srgbClr val="FFFFFF"/>
                          </a:solidFill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80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80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TF-IDF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Lexical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Fast, interpretable, sparse indexing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Weak semantic understanding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Word2Vec (Skip-Gram)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Word representation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Dense semantic vectors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Context-independent embeddings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Sequence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Handles temporal dependencies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Sequential training bottleneck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Deep contextual encoding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Parallel and expressive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Quadratic attention cost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HNSW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ANN retrieval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Low-latency nearest neighbor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Quality depends on embedding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BERT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Pre-trained contextual model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Strong transfer learning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Heavy inference cost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SBERT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Sentence embedding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Fast similarity search after indexing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Still compute-heavy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8" y="5468112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F2A"/>
                </a:solidFill>
                <a:latin typeface="Aptos"/>
              </a:defRPr>
            </a:pPr>
            <a:r>
              <a:t>- The assignment clearly traces a path from lexical methods to transformer-based semantic retrieval.</a:t>
            </a:r>
          </a:p>
          <a:p>
            <a:pPr>
              <a:spcAft>
                <a:spcPts val="600"/>
              </a:spcAft>
              <a:defRPr sz="1200">
                <a:solidFill>
                  <a:srgbClr val="1B1F2A"/>
                </a:solidFill>
                <a:latin typeface="Aptos"/>
              </a:defRPr>
            </a:pPr>
            <a:r>
              <a:t>- No single reference algorithm gives the best trade-off across relevance, speed, and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Algorithm Deep Dive: TF-IDF, Word2Vec, LSTM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THEORY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566928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defRPr sz="1280">
                <a:solidFill>
                  <a:srgbClr val="1B1F2A"/>
                </a:solidFill>
                <a:latin typeface="Aptos"/>
              </a:defRPr>
            </a:pPr>
            <a:r>
              <a:t>- TF-IDF gives a robust lexical baseline with cosine similarity over sparse vectors.</a:t>
            </a:r>
          </a:p>
          <a:p>
            <a:pPr>
              <a:spcAft>
                <a:spcPts val="900"/>
              </a:spcAft>
              <a:defRPr sz="1280">
                <a:solidFill>
                  <a:srgbClr val="1B1F2A"/>
                </a:solidFill>
                <a:latin typeface="Aptos"/>
              </a:defRPr>
            </a:pPr>
            <a:r>
              <a:t>- Word2Vec learns distributed semantics and captures local context relationships.</a:t>
            </a:r>
          </a:p>
          <a:p>
            <a:pPr>
              <a:spcAft>
                <a:spcPts val="900"/>
              </a:spcAft>
              <a:defRPr sz="1280">
                <a:solidFill>
                  <a:srgbClr val="1B1F2A"/>
                </a:solidFill>
                <a:latin typeface="Aptos"/>
              </a:defRPr>
            </a:pPr>
            <a:r>
              <a:t>- LSTM improves sequence handling but introduces sequential processing overhead.</a:t>
            </a:r>
          </a:p>
          <a:p>
            <a:pPr>
              <a:spcAft>
                <a:spcPts val="900"/>
              </a:spcAft>
              <a:defRPr sz="1280">
                <a:solidFill>
                  <a:srgbClr val="1B1F2A"/>
                </a:solidFill>
                <a:latin typeface="Aptos"/>
              </a:defRPr>
            </a:pPr>
            <a:r>
              <a:t>- These methods establish critical foundations but are not sufficient alone for modern retrieval quality + speed demands.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3611880"/>
            <a:ext cx="5440680" cy="196596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>
            <a:normAutofit/>
          </a:bodyPr>
          <a:lstStyle/>
          <a:p>
            <a:pPr algn="ctr"/>
            <a:r>
              <a:rPr sz="940">
                <a:solidFill>
                  <a:srgbClr val="EBEFF5"/>
                </a:solidFill>
                <a:latin typeface="Consolas"/>
              </a:rPr>
              <a:t>TF-IDF score(d, q) = cos(x_d, x_q)
Word2Vec objective: maximize context prediction
LSTM recurrence: h_t = f(h_(t-1), x_t)
Insight: lexical precision + semantic context + sequence memory
still need efficient large-scale retrieval integration.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051560"/>
          <a:ext cx="507492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</a:tblGrid>
              <a:tr h="697230">
                <a:tc>
                  <a:txBody>
                    <a:bodyPr/>
                    <a:lstStyle/>
                    <a:p>
                      <a:pPr>
                        <a:defRPr b="1" sz="88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80">
                          <a:solidFill>
                            <a:srgbClr val="FFFFFF"/>
                          </a:solidFill>
                        </a:defRPr>
                      </a:pPr>
                      <a:r>
                        <a:t>Typical complexity (high level)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80">
                          <a:solidFill>
                            <a:srgbClr val="FFFFFF"/>
                          </a:solidFill>
                        </a:defRPr>
                      </a:pPr>
                      <a:r>
                        <a:t>Best use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TF-IDF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Near-linear sparse ops + top-k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Keyword-heavy corpora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Word2Vec training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Corpus-scale iterative embedding updates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Word-level semantic enrichment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LSTM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Sequential over token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B1F2A"/>
                          </a:solidFill>
                        </a:defRPr>
                      </a:pPr>
                      <a:r>
                        <a:t>Temporal sequence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4160520"/>
            <a:ext cx="484632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4160520"/>
            <a:ext cx="73152" cy="822960"/>
          </a:xfrm>
          <a:prstGeom prst="rect">
            <a:avLst/>
          </a:prstGeom>
          <a:solidFill>
            <a:srgbClr val="7B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4270248"/>
            <a:ext cx="4526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1B1F2A"/>
                </a:solidFill>
                <a:latin typeface="Aptos"/>
              </a:rPr>
              <a:t>Strong foundation, limited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4626864"/>
            <a:ext cx="4526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80" b="0">
                <a:solidFill>
                  <a:srgbClr val="5D6B7D"/>
                </a:solidFill>
                <a:latin typeface="Aptos"/>
              </a:rPr>
              <a:t>Key message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Algorithm Deep Dive: Transformer, BERT, SBERT, HNSW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THEORY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042415"/>
          <a:ext cx="1080820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736"/>
                <a:gridCol w="3602736"/>
                <a:gridCol w="3602736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Role in retrieval pipeline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Transformer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Contextual representation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High quality, high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BERT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Bidirectional pre-training + fine-tuning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Excellent accuracy, slow pairwise scoring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SBERT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Sentence-level embedding for 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Fast search with ANN, embedding cost remains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HNSW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Approximate nearest-neighbor index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Very low-latency top-k, approximate results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" y="3977639"/>
            <a:ext cx="1065276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B1F2A"/>
                </a:solidFill>
                <a:latin typeface="Aptos"/>
              </a:defRPr>
            </a:pPr>
            <a:r>
              <a:t>- BERT delivers rich semantics but scales poorly for direct pairwise comparisons at large N.</a:t>
            </a:r>
          </a:p>
          <a:p>
            <a:pPr>
              <a:spcAft>
                <a:spcPts val="800"/>
              </a:spcAft>
              <a:defRPr sz="1250">
                <a:solidFill>
                  <a:srgbClr val="1B1F2A"/>
                </a:solidFill>
                <a:latin typeface="Aptos"/>
              </a:defRPr>
            </a:pPr>
            <a:r>
              <a:t>- SBERT + HNSW improves retrieval speed significantly by embedding once and indexing.</a:t>
            </a:r>
          </a:p>
          <a:p>
            <a:pPr>
              <a:spcAft>
                <a:spcPts val="800"/>
              </a:spcAft>
              <a:defRPr sz="1250">
                <a:solidFill>
                  <a:srgbClr val="1B1F2A"/>
                </a:solidFill>
                <a:latin typeface="Aptos"/>
              </a:defRPr>
            </a:pPr>
            <a:r>
              <a:t>- However, pure semantic retrieval may miss exact lexical intent in specialized data-system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40680"/>
            <a:ext cx="1060704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669280"/>
            <a:ext cx="10241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0C9291"/>
                </a:solidFill>
                <a:latin typeface="Aptos"/>
              </a:rPr>
              <a:t>This limitation motivates a hybrid lexical + semantic retrieval strategy.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Research Gap and Design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042415"/>
          <a:ext cx="10835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576072">
                <a:tc>
                  <a:txBody>
                    <a:bodyPr/>
                    <a:lstStyle/>
                    <a:p>
                      <a:pPr>
                        <a:defRPr b="1" sz="890">
                          <a:solidFill>
                            <a:srgbClr val="FFFFFF"/>
                          </a:solidFill>
                        </a:defRPr>
                      </a:pPr>
                      <a:r>
                        <a:t>Observed gap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9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90">
                          <a:solidFill>
                            <a:srgbClr val="FFFFFF"/>
                          </a:solidFill>
                        </a:defRPr>
                      </a:pPr>
                      <a:r>
                        <a:t>Design target in TFTH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Keyword-only retrieval misses semantic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Low recall for paraphrased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Add transformer semantic 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Semantic-only retrieval may ignore exact domain terms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Precision drop for exact terminology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Retain TF-IDF lexical candidate path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Large-scale corpora need low-latency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Slow ranking blocks production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Use HNSW ANN for fast semantic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Single-score methods are rigid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Poor adaptability across query types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90">
                          <a:solidFill>
                            <a:srgbClr val="1B1F2A"/>
                          </a:solidFill>
                        </a:defRPr>
                      </a:pPr>
                      <a:r>
                        <a:t>Weighted fusion score with tunable alpha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4672" y="4160520"/>
            <a:ext cx="10561320" cy="169164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>
            <a:normAutofit/>
          </a:bodyPr>
          <a:lstStyle/>
          <a:p>
            <a:pPr algn="ctr"/>
            <a:r>
              <a:rPr sz="1030">
                <a:solidFill>
                  <a:srgbClr val="EBEFF5"/>
                </a:solidFill>
                <a:latin typeface="Consolas"/>
              </a:rPr>
              <a:t>Hybrid principle:
C = C_TF-IDF union C_Transformer
score(d) = alpha * s_TF-IDF(q, d) + (1 - alpha) * s_TR(q, d)
Recommended from submission: alpha around 0.3 for balanced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Proposed Algorithm: TF-Transformer Hybrid (TFTH)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22960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0">
                <a:solidFill>
                  <a:srgbClr val="5D6B7D"/>
                </a:solidFill>
                <a:latin typeface="Aptos"/>
              </a:rPr>
              <a:t>Architecture combines lexical precision and semantic retrieval in one ranking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5087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1252728" cy="5394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0C9291"/>
                </a:solidFill>
                <a:latin typeface="Aptos"/>
              </a:rPr>
              <a:t>Query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325880"/>
            <a:ext cx="219456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1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5496" y="1490472"/>
            <a:ext cx="1938528" cy="6766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F19D38"/>
                </a:solidFill>
                <a:latin typeface="Aptos"/>
              </a:rPr>
              <a:t>TF-IDF
Top-k1 candidates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880360"/>
            <a:ext cx="219456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5496" y="3044952"/>
            <a:ext cx="1938528" cy="6766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4367B4"/>
                </a:solidFill>
                <a:latin typeface="Aptos"/>
              </a:rPr>
              <a:t>Transformer encode +
HNSW Top-k2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103120"/>
            <a:ext cx="19202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0136" y="2267712"/>
            <a:ext cx="1664208" cy="5394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7B58AB"/>
                </a:solidFill>
                <a:latin typeface="Aptos"/>
              </a:rPr>
              <a:t>Candidate union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03120"/>
            <a:ext cx="201168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5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6" y="2267712"/>
            <a:ext cx="1755648" cy="5394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459A6D"/>
                </a:solidFill>
                <a:latin typeface="Aptos"/>
              </a:rPr>
              <a:t>Fusion score
(alpha blend)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9880" y="2103120"/>
            <a:ext cx="132588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97896" y="2267712"/>
            <a:ext cx="1069848" cy="5394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50" b="1">
                <a:solidFill>
                  <a:srgbClr val="0C9291"/>
                </a:solidFill>
                <a:latin typeface="Aptos"/>
              </a:rPr>
              <a:t>Final ranked
Top-k results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240280" y="2130552"/>
            <a:ext cx="411480" cy="301752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983480" y="1645920"/>
            <a:ext cx="411480" cy="22860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983480" y="3200400"/>
            <a:ext cx="411480" cy="22860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543800" y="2359152"/>
            <a:ext cx="411480" cy="22860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10040112" y="2359152"/>
            <a:ext cx="365760" cy="228600"/>
          </a:xfrm>
          <a:prstGeom prst="rightArrow">
            <a:avLst/>
          </a:prstGeom>
          <a:solidFill>
            <a:srgbClr val="5D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109728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10">
                <a:solidFill>
                  <a:srgbClr val="1B1F2A"/>
                </a:solidFill>
                <a:latin typeface="Aptos"/>
              </a:defRPr>
            </a:pPr>
            <a:r>
              <a:t>- Dual candidate generation increases recall while preserving exact-match precision.</a:t>
            </a:r>
          </a:p>
          <a:p>
            <a:pPr>
              <a:spcAft>
                <a:spcPts val="800"/>
              </a:spcAft>
              <a:defRPr sz="1210">
                <a:solidFill>
                  <a:srgbClr val="1B1F2A"/>
                </a:solidFill>
                <a:latin typeface="Aptos"/>
              </a:defRPr>
            </a:pPr>
            <a:r>
              <a:t>- Fusion stage allows query-adaptive balancing through alpha.</a:t>
            </a:r>
          </a:p>
          <a:p>
            <a:pPr>
              <a:spcAft>
                <a:spcPts val="800"/>
              </a:spcAft>
              <a:defRPr sz="1210">
                <a:solidFill>
                  <a:srgbClr val="1B1F2A"/>
                </a:solidFill>
                <a:latin typeface="Aptos"/>
              </a:defRPr>
            </a:pPr>
            <a:r>
              <a:t>- HNSW keeps semantic search latency practical for large corpora.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TFTH Retrieval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6583680" cy="475488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>
            <a:normAutofit/>
          </a:bodyPr>
          <a:lstStyle/>
          <a:p>
            <a:pPr algn="ctr"/>
            <a:r>
              <a:rPr sz="1019">
                <a:solidFill>
                  <a:srgbClr val="EBEFF5"/>
                </a:solidFill>
                <a:latin typeface="Consolas"/>
              </a:rPr>
              <a:t>Algorithm TFTH_Retrieve(Corpus D, Query q, k1, k2, alpha):
1. Build TF-IDF index for D
2. Encode D with Transformer -&gt; embeddings E
3. Build HNSW index over E
4. C_tf = TopK_TFIDF(q, k1)
5. e_q = TransformerEncode(q)
6. C_tr = TopK_HNSW(e_q, k2)
7. C = Union(C_tf, C_tr)
8. For each d in C:
      s(d) = alpha*s_tf(q,d) + (1-alpha)*s_tr(q,d)
9. Return TopK documents by s(d)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188720"/>
          <a:ext cx="397763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79"/>
                <a:gridCol w="1325879"/>
                <a:gridCol w="1325881"/>
              </a:tblGrid>
              <a:tr h="42976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Typical choice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k1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Lexical candidate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20-100 depending on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k2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Semantic candidate size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20-100 with ANN budget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Lexical-vs-semantic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0.3 (recommended start)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Semantic ANN structure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B1F2A"/>
                          </a:solidFill>
                        </a:defRPr>
                      </a:pPr>
                      <a:r>
                        <a:t>HNSW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3794760"/>
            <a:ext cx="38404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1B1F2A"/>
                </a:solidFill>
                <a:latin typeface="Aptos"/>
              </a:defRPr>
            </a:pPr>
            <a:r>
              <a:t>- This flow maps directly to your Assignment 2 proposed Algorithm 8 (TFTH Retrieval).</a:t>
            </a:r>
          </a:p>
          <a:p>
            <a:pPr>
              <a:spcAft>
                <a:spcPts val="900"/>
              </a:spcAft>
              <a:defRPr sz="1150">
                <a:solidFill>
                  <a:srgbClr val="1B1F2A"/>
                </a:solidFill>
                <a:latin typeface="Aptos"/>
              </a:defRPr>
            </a:pPr>
            <a:r>
              <a:t>- The method is implementation-friendly for enterprise document search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Expected Performance Positioning of TFTH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24128"/>
          <a:ext cx="10835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167128"/>
                <a:gridCol w="2167128"/>
                <a:gridCol w="2167128"/>
                <a:gridCol w="2167128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93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30">
                          <a:solidFill>
                            <a:srgbClr val="FFFFFF"/>
                          </a:solidFill>
                        </a:defRPr>
                      </a:pPr>
                      <a:r>
                        <a:t>Precision (exact terms)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30">
                          <a:solidFill>
                            <a:srgbClr val="FFFFFF"/>
                          </a:solidFill>
                        </a:defRPr>
                      </a:pPr>
                      <a:r>
                        <a:t>Semantic recall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30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30">
                          <a:solidFill>
                            <a:srgbClr val="FFFFFF"/>
                          </a:solidFill>
                        </a:defRPr>
                      </a:pPr>
                      <a:r>
                        <a:t>Overall retrieval quality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TF-IDF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Very 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SBERT + HNSW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TFTH (proposed)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Very high (balanced)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3429000"/>
            <a:ext cx="5486400" cy="2103120"/>
          </a:xfrm>
          <a:prstGeom prst="roundRect">
            <a:avLst/>
          </a:prstGeom>
          <a:solidFill>
            <a:srgbClr val="1E222C"/>
          </a:solidFill>
          <a:ln>
            <a:solidFill>
              <a:srgbClr val="46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>
            <a:normAutofit/>
          </a:bodyPr>
          <a:lstStyle/>
          <a:p>
            <a:pPr algn="ctr"/>
            <a:r>
              <a:rPr sz="1050">
                <a:solidFill>
                  <a:srgbClr val="EBEFF5"/>
                </a:solidFill>
                <a:latin typeface="Consolas"/>
              </a:rPr>
              <a:t>Why TFTH should work better:
1. Preserves lexical intent for domain-specific terms.
2. Recovers semantically relevant paraphrases.
3. Keeps retrieval scalable using ANN indexing.
4. Offers tunable behavior through alpha for different workloads.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456432"/>
            <a:ext cx="484632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5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3721608"/>
            <a:ext cx="4389120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1">
                <a:solidFill>
                  <a:srgbClr val="459A6D"/>
                </a:solidFill>
                <a:latin typeface="Aptos"/>
              </a:rPr>
              <a:t>Proposed contribution highlighted:
TFTH is a practical hybrid retrieval algorithm designed for real-world NLP data systems where both relevance and speed matter.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Evaluation Plan for Proposed TFTH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51560"/>
          <a:ext cx="108356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472440">
                <a:tc>
                  <a:txBody>
                    <a:bodyPr/>
                    <a:lstStyle/>
                    <a:p>
                      <a:pPr>
                        <a:defRPr b="1" sz="910">
                          <a:solidFill>
                            <a:srgbClr val="FFFFFF"/>
                          </a:solidFill>
                        </a:defRPr>
                      </a:pPr>
                      <a:r>
                        <a:t>Evaluation aspect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10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Datasets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Use chapter-domain corpora and enterprise-style document 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Baselines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TF-IDF baseline and SBERT+HNSW semantic baseline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Precision@k, Recall@k, nDCG, query latency, index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Ablation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Vary alpha, k1, k2 to test lexical/semantic balance sensitivity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Outcome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>
                          <a:solidFill>
                            <a:srgbClr val="1B1F2A"/>
                          </a:solidFill>
                        </a:defRPr>
                      </a:pPr>
                      <a:r>
                        <a:t>Show better balanced relevance-speed trade-off than single-path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160520"/>
            <a:ext cx="10607040" cy="1691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30">
                <a:solidFill>
                  <a:srgbClr val="1B1F2A"/>
                </a:solidFill>
                <a:latin typeface="Aptos"/>
              </a:defRPr>
            </a:pPr>
            <a:r>
              <a:t>- Success criterion: TFTH should improve recall over TF-IDF while preserving precision better than semantic-only retrieval.</a:t>
            </a:r>
          </a:p>
          <a:p>
            <a:pPr>
              <a:spcAft>
                <a:spcPts val="800"/>
              </a:spcAft>
              <a:defRPr sz="1230">
                <a:solidFill>
                  <a:srgbClr val="1B1F2A"/>
                </a:solidFill>
                <a:latin typeface="Aptos"/>
              </a:defRPr>
            </a:pPr>
            <a:r>
              <a:t>- System criterion: latency should remain production-friendly using ANN-based semantic retrieval.</a:t>
            </a:r>
          </a:p>
          <a:p>
            <a:pPr>
              <a:spcAft>
                <a:spcPts val="800"/>
              </a:spcAft>
              <a:defRPr sz="1230">
                <a:solidFill>
                  <a:srgbClr val="1B1F2A"/>
                </a:solidFill>
                <a:latin typeface="Aptos"/>
              </a:defRPr>
            </a:pPr>
            <a:r>
              <a:t>- This positions TFTH as an engineering-oriented contribution, not only a theoretical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B1F2A"/>
                </a:solidFill>
                <a:latin typeface="Aptos"/>
              </a:rPr>
              <a:t>Conclusion and 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64040" y="292608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1">
                <a:solidFill>
                  <a:srgbClr val="0C9291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6217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0">
                <a:solidFill>
                  <a:srgbClr val="5D6B7D"/>
                </a:solidFill>
                <a:latin typeface="Aptos"/>
              </a:rPr>
              <a:t>Devulapalli Tharun | 252CS009 | Theory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D6B7D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0"/>
            <a:ext cx="106984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defRPr sz="1280">
                <a:solidFill>
                  <a:srgbClr val="1B1F2A"/>
                </a:solidFill>
                <a:latin typeface="Aptos"/>
              </a:defRPr>
            </a:pPr>
            <a:r>
              <a:t>- Assignment 1 established a strong conceptual foundation for NLP in modern data systems.</a:t>
            </a:r>
          </a:p>
          <a:p>
            <a:pPr>
              <a:spcAft>
                <a:spcPts val="900"/>
              </a:spcAft>
              <a:defRPr sz="1280">
                <a:solidFill>
                  <a:srgbClr val="1B1F2A"/>
                </a:solidFill>
                <a:latin typeface="Aptos"/>
              </a:defRPr>
            </a:pPr>
            <a:r>
              <a:t>- Assignment 2 reviewed major reference algorithms from lexical, neural, and ANN retrieval pipelines.</a:t>
            </a:r>
          </a:p>
          <a:p>
            <a:pPr>
              <a:spcAft>
                <a:spcPts val="900"/>
              </a:spcAft>
              <a:defRPr sz="1280">
                <a:solidFill>
                  <a:srgbClr val="1B1F2A"/>
                </a:solidFill>
                <a:latin typeface="Aptos"/>
              </a:defRPr>
            </a:pPr>
            <a:r>
              <a:t>- Your proposed TFTH algorithm is the central contribution: a balanced hybrid retrieval strategy.</a:t>
            </a:r>
          </a:p>
          <a:p>
            <a:pPr>
              <a:spcAft>
                <a:spcPts val="900"/>
              </a:spcAft>
              <a:defRPr sz="1280">
                <a:solidFill>
                  <a:srgbClr val="1B1F2A"/>
                </a:solidFill>
                <a:latin typeface="Aptos"/>
              </a:defRPr>
            </a:pPr>
            <a:r>
              <a:t>- The final direction is clear: evaluate TFTH against standard baselines and tune alpha for domain behavior.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3337560"/>
          <a:ext cx="10744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2100"/>
                <a:gridCol w="537210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930">
                          <a:solidFill>
                            <a:srgbClr val="FFFFFF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30">
                          <a:solidFill>
                            <a:srgbClr val="FFFFFF"/>
                          </a:solidFill>
                        </a:defRPr>
                      </a:pPr>
                      <a:r>
                        <a:t>Why used</a:t>
                      </a:r>
                    </a:p>
                  </a:txBody>
                  <a:tcPr>
                    <a:solidFill>
                      <a:srgbClr val="262D3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Lafferty et al. (CRF, 2001)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Sequence labeling foundations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Pennington et al. (GloVe, 2014)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Word representation context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Vaswani et al. (Transformer, 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Core modern sequence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Reimers and Gurevych (SBERT, 2019)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1B1F2A"/>
                          </a:solidFill>
                        </a:defRPr>
                      </a:pPr>
                      <a:r>
                        <a:t>Efficient sentence retrieval baseline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440680"/>
            <a:ext cx="10698480" cy="7863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C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669280"/>
            <a:ext cx="102412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0C9291"/>
                </a:solidFill>
                <a:latin typeface="Aptos"/>
              </a:rPr>
              <a:t>Thank you - Theory PPT completed in lab-style standard with 15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